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58" r:id="rId5"/>
    <p:sldId id="259" r:id="rId6"/>
    <p:sldId id="272" r:id="rId7"/>
    <p:sldId id="271" r:id="rId8"/>
    <p:sldId id="270" r:id="rId9"/>
    <p:sldId id="284" r:id="rId10"/>
    <p:sldId id="269" r:id="rId11"/>
    <p:sldId id="276" r:id="rId12"/>
    <p:sldId id="262" r:id="rId13"/>
    <p:sldId id="274" r:id="rId14"/>
    <p:sldId id="275" r:id="rId15"/>
    <p:sldId id="277" r:id="rId16"/>
    <p:sldId id="278" r:id="rId17"/>
    <p:sldId id="279" r:id="rId18"/>
    <p:sldId id="280" r:id="rId19"/>
    <p:sldId id="265" r:id="rId20"/>
    <p:sldId id="264" r:id="rId21"/>
    <p:sldId id="281" r:id="rId22"/>
    <p:sldId id="266" r:id="rId23"/>
    <p:sldId id="282" r:id="rId24"/>
    <p:sldId id="283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30AB6A-FE53-4762-BAC4-85E6927D9291}" type="doc">
      <dgm:prSet loTypeId="urn:microsoft.com/office/officeart/2018/2/layout/IconVerticalSolidList" loCatId="icon" qsTypeId="urn:microsoft.com/office/officeart/2005/8/quickstyle/simple1#22" qsCatId="simple" csTypeId="urn:microsoft.com/office/officeart/2005/8/colors/accent1_2#15" csCatId="accent1" phldr="1"/>
      <dgm:spPr/>
      <dgm:t>
        <a:bodyPr/>
        <a:lstStyle/>
        <a:p>
          <a:endParaRPr lang="en-US"/>
        </a:p>
      </dgm:t>
    </dgm:pt>
    <dgm:pt modelId="{C6BE7E31-D0CA-4F5A-897C-0B25E984E1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</a:rPr>
            <a:t>API: Displays information to the user and handles user input</a:t>
          </a:r>
        </a:p>
      </dgm:t>
    </dgm:pt>
    <dgm:pt modelId="{C54E0616-DB15-48A2-B821-6EE1E83E983F}" type="parTrans" cxnId="{2E4E80BF-0735-4BB4-9AFD-E094B5A80010}">
      <dgm:prSet/>
      <dgm:spPr/>
      <dgm:t>
        <a:bodyPr/>
        <a:lstStyle/>
        <a:p>
          <a:endParaRPr lang="en-US"/>
        </a:p>
      </dgm:t>
    </dgm:pt>
    <dgm:pt modelId="{EC040BAA-EF99-4CD2-8660-927139D2AA97}" type="sibTrans" cxnId="{2E4E80BF-0735-4BB4-9AFD-E094B5A80010}">
      <dgm:prSet/>
      <dgm:spPr/>
      <dgm:t>
        <a:bodyPr/>
        <a:lstStyle/>
        <a:p>
          <a:endParaRPr lang="en-US"/>
        </a:p>
      </dgm:t>
    </dgm:pt>
    <dgm:pt modelId="{5DB55A4F-E28C-481C-BAC9-87957AF8BE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</a:rPr>
            <a:t>Service: Handles business logic; the “brain” of the application</a:t>
          </a:r>
        </a:p>
      </dgm:t>
    </dgm:pt>
    <dgm:pt modelId="{A359B57E-713F-4546-BF51-A6AD343154DC}" type="parTrans" cxnId="{56EF5DD9-65F9-462C-8835-7EBC813B4133}">
      <dgm:prSet/>
      <dgm:spPr/>
      <dgm:t>
        <a:bodyPr/>
        <a:lstStyle/>
        <a:p>
          <a:endParaRPr lang="en-US"/>
        </a:p>
      </dgm:t>
    </dgm:pt>
    <dgm:pt modelId="{7E216270-B318-4DF3-91EB-6C687FA73C8B}" type="sibTrans" cxnId="{56EF5DD9-65F9-462C-8835-7EBC813B4133}">
      <dgm:prSet/>
      <dgm:spPr/>
      <dgm:t>
        <a:bodyPr/>
        <a:lstStyle/>
        <a:p>
          <a:endParaRPr lang="en-US"/>
        </a:p>
      </dgm:t>
    </dgm:pt>
    <dgm:pt modelId="{B1DBE7D7-3163-4BD5-903E-BEDDE7F960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</a:rPr>
            <a:t>Domain: Provides abstraction over database tables and records</a:t>
          </a:r>
        </a:p>
      </dgm:t>
    </dgm:pt>
    <dgm:pt modelId="{A8A2D582-DE62-4A13-AC8B-C092F3383ACB}" type="parTrans" cxnId="{F6A32518-1928-4E5C-81F4-0D84F7F1AD43}">
      <dgm:prSet/>
      <dgm:spPr/>
      <dgm:t>
        <a:bodyPr/>
        <a:lstStyle/>
        <a:p>
          <a:endParaRPr lang="en-US"/>
        </a:p>
      </dgm:t>
    </dgm:pt>
    <dgm:pt modelId="{0D6AFB98-87B7-4BA0-A002-44D8C5DF43E9}" type="sibTrans" cxnId="{F6A32518-1928-4E5C-81F4-0D84F7F1AD43}">
      <dgm:prSet/>
      <dgm:spPr/>
      <dgm:t>
        <a:bodyPr/>
        <a:lstStyle/>
        <a:p>
          <a:endParaRPr lang="en-US"/>
        </a:p>
      </dgm:t>
    </dgm:pt>
    <dgm:pt modelId="{E43CCC81-5181-45E6-82F0-909C4FA858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</a:rPr>
            <a:t>Persistence: Talks to the database and “Translates” between Java and SQL</a:t>
          </a:r>
        </a:p>
      </dgm:t>
    </dgm:pt>
    <dgm:pt modelId="{0FB64FA8-982D-42B6-8D5F-ECD1F24448C3}" type="parTrans" cxnId="{2E5BCA37-11C9-4C1C-A2E8-D02EED5145F3}">
      <dgm:prSet/>
      <dgm:spPr/>
      <dgm:t>
        <a:bodyPr/>
        <a:lstStyle/>
        <a:p>
          <a:endParaRPr lang="en-US"/>
        </a:p>
      </dgm:t>
    </dgm:pt>
    <dgm:pt modelId="{DFE823F8-A456-4A2E-A500-A0C7E8FB64E0}" type="sibTrans" cxnId="{2E5BCA37-11C9-4C1C-A2E8-D02EED5145F3}">
      <dgm:prSet/>
      <dgm:spPr/>
      <dgm:t>
        <a:bodyPr/>
        <a:lstStyle/>
        <a:p>
          <a:endParaRPr lang="en-US"/>
        </a:p>
      </dgm:t>
    </dgm:pt>
    <dgm:pt modelId="{FB6D0EB4-98B4-41CB-A5C6-3C733B130870}" type="pres">
      <dgm:prSet presAssocID="{3930AB6A-FE53-4762-BAC4-85E6927D9291}" presName="root" presStyleCnt="0">
        <dgm:presLayoutVars>
          <dgm:dir/>
          <dgm:resizeHandles val="exact"/>
        </dgm:presLayoutVars>
      </dgm:prSet>
      <dgm:spPr/>
    </dgm:pt>
    <dgm:pt modelId="{19A82A2F-E694-4A74-91A6-65ADD721C5AC}" type="pres">
      <dgm:prSet presAssocID="{C6BE7E31-D0CA-4F5A-897C-0B25E984E161}" presName="compNode" presStyleCnt="0"/>
      <dgm:spPr/>
    </dgm:pt>
    <dgm:pt modelId="{0A2B03B7-610F-4726-B92C-97B407C4AB63}" type="pres">
      <dgm:prSet presAssocID="{C6BE7E31-D0CA-4F5A-897C-0B25E984E161}" presName="bgRect" presStyleLbl="bgShp" presStyleIdx="0" presStyleCnt="4"/>
      <dgm:spPr/>
    </dgm:pt>
    <dgm:pt modelId="{94572554-33B5-454A-BF87-D1D4EA7590E3}" type="pres">
      <dgm:prSet presAssocID="{C6BE7E31-D0CA-4F5A-897C-0B25E984E161}" presName="iconRect" presStyleLbl="node1" presStyleIdx="0" presStyleCnt="4"/>
      <dgm:spPr/>
    </dgm:pt>
    <dgm:pt modelId="{D183C127-BE21-4924-85B6-88F088986D31}" type="pres">
      <dgm:prSet presAssocID="{C6BE7E31-D0CA-4F5A-897C-0B25E984E161}" presName="spaceRect" presStyleCnt="0"/>
      <dgm:spPr/>
    </dgm:pt>
    <dgm:pt modelId="{78D5284C-8711-4BF8-A8ED-74B7F35CEECE}" type="pres">
      <dgm:prSet presAssocID="{C6BE7E31-D0CA-4F5A-897C-0B25E984E161}" presName="parTx" presStyleLbl="revTx" presStyleIdx="0" presStyleCnt="4">
        <dgm:presLayoutVars>
          <dgm:chMax val="0"/>
          <dgm:chPref val="0"/>
        </dgm:presLayoutVars>
      </dgm:prSet>
      <dgm:spPr/>
    </dgm:pt>
    <dgm:pt modelId="{1683B6DA-156B-47EE-A2C4-A0F0FBF42B72}" type="pres">
      <dgm:prSet presAssocID="{EC040BAA-EF99-4CD2-8660-927139D2AA97}" presName="sibTrans" presStyleCnt="0"/>
      <dgm:spPr/>
    </dgm:pt>
    <dgm:pt modelId="{9B471139-A50B-4B3D-AC16-B3183AFF7767}" type="pres">
      <dgm:prSet presAssocID="{5DB55A4F-E28C-481C-BAC9-87957AF8BEB0}" presName="compNode" presStyleCnt="0"/>
      <dgm:spPr/>
    </dgm:pt>
    <dgm:pt modelId="{21ED7785-A8A1-4CA2-B747-E26E7EBDD0C2}" type="pres">
      <dgm:prSet presAssocID="{5DB55A4F-E28C-481C-BAC9-87957AF8BEB0}" presName="bgRect" presStyleLbl="bgShp" presStyleIdx="1" presStyleCnt="4"/>
      <dgm:spPr/>
    </dgm:pt>
    <dgm:pt modelId="{77C13B3E-F53C-4178-89E6-9C460AD61AD7}" type="pres">
      <dgm:prSet presAssocID="{5DB55A4F-E28C-481C-BAC9-87957AF8BEB0}" presName="iconRect" presStyleLbl="node1" presStyleIdx="1" presStyleCnt="4"/>
      <dgm:spPr/>
    </dgm:pt>
    <dgm:pt modelId="{78452136-62F5-4694-BEBB-9237DA79D9F3}" type="pres">
      <dgm:prSet presAssocID="{5DB55A4F-E28C-481C-BAC9-87957AF8BEB0}" presName="spaceRect" presStyleCnt="0"/>
      <dgm:spPr/>
    </dgm:pt>
    <dgm:pt modelId="{E6FE4F6F-3F11-4B9B-8B1B-599D0904D73C}" type="pres">
      <dgm:prSet presAssocID="{5DB55A4F-E28C-481C-BAC9-87957AF8BEB0}" presName="parTx" presStyleLbl="revTx" presStyleIdx="1" presStyleCnt="4">
        <dgm:presLayoutVars>
          <dgm:chMax val="0"/>
          <dgm:chPref val="0"/>
        </dgm:presLayoutVars>
      </dgm:prSet>
      <dgm:spPr/>
    </dgm:pt>
    <dgm:pt modelId="{38B25C2C-3568-463D-941C-22E0DD003BE8}" type="pres">
      <dgm:prSet presAssocID="{7E216270-B318-4DF3-91EB-6C687FA73C8B}" presName="sibTrans" presStyleCnt="0"/>
      <dgm:spPr/>
    </dgm:pt>
    <dgm:pt modelId="{869A15DC-CA75-4962-974E-6908CA415A2D}" type="pres">
      <dgm:prSet presAssocID="{B1DBE7D7-3163-4BD5-903E-BEDDE7F9606D}" presName="compNode" presStyleCnt="0"/>
      <dgm:spPr/>
    </dgm:pt>
    <dgm:pt modelId="{B4651D30-5890-4325-AF11-E7E8BE55E3B7}" type="pres">
      <dgm:prSet presAssocID="{B1DBE7D7-3163-4BD5-903E-BEDDE7F9606D}" presName="bgRect" presStyleLbl="bgShp" presStyleIdx="2" presStyleCnt="4"/>
      <dgm:spPr/>
    </dgm:pt>
    <dgm:pt modelId="{8BE88B03-CC9D-4362-AEC3-6C1B4C8FB6A8}" type="pres">
      <dgm:prSet presAssocID="{B1DBE7D7-3163-4BD5-903E-BEDDE7F9606D}" presName="iconRect" presStyleLbl="node1" presStyleIdx="2" presStyleCnt="4"/>
      <dgm:spPr/>
    </dgm:pt>
    <dgm:pt modelId="{3F257FD0-C5FE-49EF-A429-EA2D6C029F45}" type="pres">
      <dgm:prSet presAssocID="{B1DBE7D7-3163-4BD5-903E-BEDDE7F9606D}" presName="spaceRect" presStyleCnt="0"/>
      <dgm:spPr/>
    </dgm:pt>
    <dgm:pt modelId="{01DEE690-3CB3-4CFE-B0DD-F9FFA72E689C}" type="pres">
      <dgm:prSet presAssocID="{B1DBE7D7-3163-4BD5-903E-BEDDE7F9606D}" presName="parTx" presStyleLbl="revTx" presStyleIdx="2" presStyleCnt="4">
        <dgm:presLayoutVars>
          <dgm:chMax val="0"/>
          <dgm:chPref val="0"/>
        </dgm:presLayoutVars>
      </dgm:prSet>
      <dgm:spPr/>
    </dgm:pt>
    <dgm:pt modelId="{0F083924-EF84-47BE-9933-4453E66B6090}" type="pres">
      <dgm:prSet presAssocID="{0D6AFB98-87B7-4BA0-A002-44D8C5DF43E9}" presName="sibTrans" presStyleCnt="0"/>
      <dgm:spPr/>
    </dgm:pt>
    <dgm:pt modelId="{263C62BE-B488-497D-8F68-BD354C7A59FD}" type="pres">
      <dgm:prSet presAssocID="{E43CCC81-5181-45E6-82F0-909C4FA85812}" presName="compNode" presStyleCnt="0"/>
      <dgm:spPr/>
    </dgm:pt>
    <dgm:pt modelId="{3437105E-ABA8-4FB7-9EDA-7A3F698D9CF6}" type="pres">
      <dgm:prSet presAssocID="{E43CCC81-5181-45E6-82F0-909C4FA85812}" presName="bgRect" presStyleLbl="bgShp" presStyleIdx="3" presStyleCnt="4"/>
      <dgm:spPr/>
    </dgm:pt>
    <dgm:pt modelId="{E0529E4E-81ED-41F3-B54B-E25D5F347095}" type="pres">
      <dgm:prSet presAssocID="{E43CCC81-5181-45E6-82F0-909C4FA85812}" presName="iconRect" presStyleLbl="node1" presStyleIdx="3" presStyleCnt="4"/>
      <dgm:spPr/>
    </dgm:pt>
    <dgm:pt modelId="{9B4725AB-7F12-4585-B6CF-A9FB734FC86A}" type="pres">
      <dgm:prSet presAssocID="{E43CCC81-5181-45E6-82F0-909C4FA85812}" presName="spaceRect" presStyleCnt="0"/>
      <dgm:spPr/>
    </dgm:pt>
    <dgm:pt modelId="{67A16920-75C1-462B-9DF9-AA59BBE2CC85}" type="pres">
      <dgm:prSet presAssocID="{E43CCC81-5181-45E6-82F0-909C4FA8581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6A32518-1928-4E5C-81F4-0D84F7F1AD43}" srcId="{3930AB6A-FE53-4762-BAC4-85E6927D9291}" destId="{B1DBE7D7-3163-4BD5-903E-BEDDE7F9606D}" srcOrd="2" destOrd="0" parTransId="{A8A2D582-DE62-4A13-AC8B-C092F3383ACB}" sibTransId="{0D6AFB98-87B7-4BA0-A002-44D8C5DF43E9}"/>
    <dgm:cxn modelId="{0F385832-C74A-4495-BB3A-6BA45EAE52CE}" type="presOf" srcId="{3930AB6A-FE53-4762-BAC4-85E6927D9291}" destId="{FB6D0EB4-98B4-41CB-A5C6-3C733B130870}" srcOrd="0" destOrd="0" presId="urn:microsoft.com/office/officeart/2018/2/layout/IconVerticalSolidList"/>
    <dgm:cxn modelId="{1B638135-95D4-4A9F-BD24-B82DC6BE54E0}" type="presOf" srcId="{C6BE7E31-D0CA-4F5A-897C-0B25E984E161}" destId="{78D5284C-8711-4BF8-A8ED-74B7F35CEECE}" srcOrd="0" destOrd="0" presId="urn:microsoft.com/office/officeart/2018/2/layout/IconVerticalSolidList"/>
    <dgm:cxn modelId="{2E5BCA37-11C9-4C1C-A2E8-D02EED5145F3}" srcId="{3930AB6A-FE53-4762-BAC4-85E6927D9291}" destId="{E43CCC81-5181-45E6-82F0-909C4FA85812}" srcOrd="3" destOrd="0" parTransId="{0FB64FA8-982D-42B6-8D5F-ECD1F24448C3}" sibTransId="{DFE823F8-A456-4A2E-A500-A0C7E8FB64E0}"/>
    <dgm:cxn modelId="{2E4E80BF-0735-4BB4-9AFD-E094B5A80010}" srcId="{3930AB6A-FE53-4762-BAC4-85E6927D9291}" destId="{C6BE7E31-D0CA-4F5A-897C-0B25E984E161}" srcOrd="0" destOrd="0" parTransId="{C54E0616-DB15-48A2-B821-6EE1E83E983F}" sibTransId="{EC040BAA-EF99-4CD2-8660-927139D2AA97}"/>
    <dgm:cxn modelId="{2F21BCC5-1A2E-4410-9FA7-ACD3B5BCD526}" type="presOf" srcId="{5DB55A4F-E28C-481C-BAC9-87957AF8BEB0}" destId="{E6FE4F6F-3F11-4B9B-8B1B-599D0904D73C}" srcOrd="0" destOrd="0" presId="urn:microsoft.com/office/officeart/2018/2/layout/IconVerticalSolidList"/>
    <dgm:cxn modelId="{56EF5DD9-65F9-462C-8835-7EBC813B4133}" srcId="{3930AB6A-FE53-4762-BAC4-85E6927D9291}" destId="{5DB55A4F-E28C-481C-BAC9-87957AF8BEB0}" srcOrd="1" destOrd="0" parTransId="{A359B57E-713F-4546-BF51-A6AD343154DC}" sibTransId="{7E216270-B318-4DF3-91EB-6C687FA73C8B}"/>
    <dgm:cxn modelId="{DDC29FE1-76E4-4469-A6D0-7FBC0E740592}" type="presOf" srcId="{E43CCC81-5181-45E6-82F0-909C4FA85812}" destId="{67A16920-75C1-462B-9DF9-AA59BBE2CC85}" srcOrd="0" destOrd="0" presId="urn:microsoft.com/office/officeart/2018/2/layout/IconVerticalSolidList"/>
    <dgm:cxn modelId="{5536A7F2-4DAA-456D-AB1E-B827A025183F}" type="presOf" srcId="{B1DBE7D7-3163-4BD5-903E-BEDDE7F9606D}" destId="{01DEE690-3CB3-4CFE-B0DD-F9FFA72E689C}" srcOrd="0" destOrd="0" presId="urn:microsoft.com/office/officeart/2018/2/layout/IconVerticalSolidList"/>
    <dgm:cxn modelId="{5537F7EA-73BA-455E-8130-63BE1B311038}" type="presParOf" srcId="{FB6D0EB4-98B4-41CB-A5C6-3C733B130870}" destId="{19A82A2F-E694-4A74-91A6-65ADD721C5AC}" srcOrd="0" destOrd="0" presId="urn:microsoft.com/office/officeart/2018/2/layout/IconVerticalSolidList"/>
    <dgm:cxn modelId="{E3D5177C-64E4-4D64-AEF5-9802DF2E8018}" type="presParOf" srcId="{19A82A2F-E694-4A74-91A6-65ADD721C5AC}" destId="{0A2B03B7-610F-4726-B92C-97B407C4AB63}" srcOrd="0" destOrd="0" presId="urn:microsoft.com/office/officeart/2018/2/layout/IconVerticalSolidList"/>
    <dgm:cxn modelId="{B5DB8EFB-310E-4819-9E97-66B8EC45C027}" type="presParOf" srcId="{19A82A2F-E694-4A74-91A6-65ADD721C5AC}" destId="{94572554-33B5-454A-BF87-D1D4EA7590E3}" srcOrd="1" destOrd="0" presId="urn:microsoft.com/office/officeart/2018/2/layout/IconVerticalSolidList"/>
    <dgm:cxn modelId="{B7E14EBD-BA7A-48BE-8D1E-706FCC3D5B30}" type="presParOf" srcId="{19A82A2F-E694-4A74-91A6-65ADD721C5AC}" destId="{D183C127-BE21-4924-85B6-88F088986D31}" srcOrd="2" destOrd="0" presId="urn:microsoft.com/office/officeart/2018/2/layout/IconVerticalSolidList"/>
    <dgm:cxn modelId="{E4DCA1AD-F763-4ECF-B9B1-6599E06855C5}" type="presParOf" srcId="{19A82A2F-E694-4A74-91A6-65ADD721C5AC}" destId="{78D5284C-8711-4BF8-A8ED-74B7F35CEECE}" srcOrd="3" destOrd="0" presId="urn:microsoft.com/office/officeart/2018/2/layout/IconVerticalSolidList"/>
    <dgm:cxn modelId="{9CBB7B87-E467-4E6B-881E-DCC1A9561FD7}" type="presParOf" srcId="{FB6D0EB4-98B4-41CB-A5C6-3C733B130870}" destId="{1683B6DA-156B-47EE-A2C4-A0F0FBF42B72}" srcOrd="1" destOrd="0" presId="urn:microsoft.com/office/officeart/2018/2/layout/IconVerticalSolidList"/>
    <dgm:cxn modelId="{7EC245CA-FC18-427A-9BF1-5DAA306B1CFB}" type="presParOf" srcId="{FB6D0EB4-98B4-41CB-A5C6-3C733B130870}" destId="{9B471139-A50B-4B3D-AC16-B3183AFF7767}" srcOrd="2" destOrd="0" presId="urn:microsoft.com/office/officeart/2018/2/layout/IconVerticalSolidList"/>
    <dgm:cxn modelId="{93566687-63F5-46B4-BC52-E8D827BD470E}" type="presParOf" srcId="{9B471139-A50B-4B3D-AC16-B3183AFF7767}" destId="{21ED7785-A8A1-4CA2-B747-E26E7EBDD0C2}" srcOrd="0" destOrd="0" presId="urn:microsoft.com/office/officeart/2018/2/layout/IconVerticalSolidList"/>
    <dgm:cxn modelId="{1D4C2D17-C8FC-40E3-B2A6-403B1232FE63}" type="presParOf" srcId="{9B471139-A50B-4B3D-AC16-B3183AFF7767}" destId="{77C13B3E-F53C-4178-89E6-9C460AD61AD7}" srcOrd="1" destOrd="0" presId="urn:microsoft.com/office/officeart/2018/2/layout/IconVerticalSolidList"/>
    <dgm:cxn modelId="{5D1AF1C5-0E83-40A2-A21C-0C6ADE788A99}" type="presParOf" srcId="{9B471139-A50B-4B3D-AC16-B3183AFF7767}" destId="{78452136-62F5-4694-BEBB-9237DA79D9F3}" srcOrd="2" destOrd="0" presId="urn:microsoft.com/office/officeart/2018/2/layout/IconVerticalSolidList"/>
    <dgm:cxn modelId="{8E8AA631-B3E6-4941-8D56-2A3DDF2484BE}" type="presParOf" srcId="{9B471139-A50B-4B3D-AC16-B3183AFF7767}" destId="{E6FE4F6F-3F11-4B9B-8B1B-599D0904D73C}" srcOrd="3" destOrd="0" presId="urn:microsoft.com/office/officeart/2018/2/layout/IconVerticalSolidList"/>
    <dgm:cxn modelId="{FE4813A7-9981-407F-BC9A-47953AA16C91}" type="presParOf" srcId="{FB6D0EB4-98B4-41CB-A5C6-3C733B130870}" destId="{38B25C2C-3568-463D-941C-22E0DD003BE8}" srcOrd="3" destOrd="0" presId="urn:microsoft.com/office/officeart/2018/2/layout/IconVerticalSolidList"/>
    <dgm:cxn modelId="{61742FA9-415A-443F-BB5B-7AAD23D9E1DC}" type="presParOf" srcId="{FB6D0EB4-98B4-41CB-A5C6-3C733B130870}" destId="{869A15DC-CA75-4962-974E-6908CA415A2D}" srcOrd="4" destOrd="0" presId="urn:microsoft.com/office/officeart/2018/2/layout/IconVerticalSolidList"/>
    <dgm:cxn modelId="{72EBEE5A-0A44-461E-AC96-8AC32A764861}" type="presParOf" srcId="{869A15DC-CA75-4962-974E-6908CA415A2D}" destId="{B4651D30-5890-4325-AF11-E7E8BE55E3B7}" srcOrd="0" destOrd="0" presId="urn:microsoft.com/office/officeart/2018/2/layout/IconVerticalSolidList"/>
    <dgm:cxn modelId="{323A582E-0CBC-4B41-9274-1378AAB8D94E}" type="presParOf" srcId="{869A15DC-CA75-4962-974E-6908CA415A2D}" destId="{8BE88B03-CC9D-4362-AEC3-6C1B4C8FB6A8}" srcOrd="1" destOrd="0" presId="urn:microsoft.com/office/officeart/2018/2/layout/IconVerticalSolidList"/>
    <dgm:cxn modelId="{E76E7AC3-E6B2-4CC7-AF7C-B935F10F78D8}" type="presParOf" srcId="{869A15DC-CA75-4962-974E-6908CA415A2D}" destId="{3F257FD0-C5FE-49EF-A429-EA2D6C029F45}" srcOrd="2" destOrd="0" presId="urn:microsoft.com/office/officeart/2018/2/layout/IconVerticalSolidList"/>
    <dgm:cxn modelId="{485CD629-A85F-45B3-A596-837CAA0BE462}" type="presParOf" srcId="{869A15DC-CA75-4962-974E-6908CA415A2D}" destId="{01DEE690-3CB3-4CFE-B0DD-F9FFA72E689C}" srcOrd="3" destOrd="0" presId="urn:microsoft.com/office/officeart/2018/2/layout/IconVerticalSolidList"/>
    <dgm:cxn modelId="{3986C1A3-2B0B-4FB7-AE69-19AC2857D00A}" type="presParOf" srcId="{FB6D0EB4-98B4-41CB-A5C6-3C733B130870}" destId="{0F083924-EF84-47BE-9933-4453E66B6090}" srcOrd="5" destOrd="0" presId="urn:microsoft.com/office/officeart/2018/2/layout/IconVerticalSolidList"/>
    <dgm:cxn modelId="{EE6D1483-4375-495C-BA0A-3782D08165A2}" type="presParOf" srcId="{FB6D0EB4-98B4-41CB-A5C6-3C733B130870}" destId="{263C62BE-B488-497D-8F68-BD354C7A59FD}" srcOrd="6" destOrd="0" presId="urn:microsoft.com/office/officeart/2018/2/layout/IconVerticalSolidList"/>
    <dgm:cxn modelId="{0BF5341D-EC5F-4B41-B1B1-9DC69631EE5C}" type="presParOf" srcId="{263C62BE-B488-497D-8F68-BD354C7A59FD}" destId="{3437105E-ABA8-4FB7-9EDA-7A3F698D9CF6}" srcOrd="0" destOrd="0" presId="urn:microsoft.com/office/officeart/2018/2/layout/IconVerticalSolidList"/>
    <dgm:cxn modelId="{5F9BAAF5-C75B-4767-BE19-F672A784383B}" type="presParOf" srcId="{263C62BE-B488-497D-8F68-BD354C7A59FD}" destId="{E0529E4E-81ED-41F3-B54B-E25D5F347095}" srcOrd="1" destOrd="0" presId="urn:microsoft.com/office/officeart/2018/2/layout/IconVerticalSolidList"/>
    <dgm:cxn modelId="{0B677E7D-76BB-46C5-8CEE-5A4418B46834}" type="presParOf" srcId="{263C62BE-B488-497D-8F68-BD354C7A59FD}" destId="{9B4725AB-7F12-4585-B6CF-A9FB734FC86A}" srcOrd="2" destOrd="0" presId="urn:microsoft.com/office/officeart/2018/2/layout/IconVerticalSolidList"/>
    <dgm:cxn modelId="{041A0990-C1CF-4818-A25F-ED9441FE8EC1}" type="presParOf" srcId="{263C62BE-B488-497D-8F68-BD354C7A59FD}" destId="{67A16920-75C1-462B-9DF9-AA59BBE2CC8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2B03B7-610F-4726-B92C-97B407C4AB63}">
      <dsp:nvSpPr>
        <dsp:cNvPr id="0" name=""/>
        <dsp:cNvSpPr/>
      </dsp:nvSpPr>
      <dsp:spPr>
        <a:xfrm>
          <a:off x="0" y="1296"/>
          <a:ext cx="9905998" cy="65718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572554-33B5-454A-BF87-D1D4EA7590E3}">
      <dsp:nvSpPr>
        <dsp:cNvPr id="0" name=""/>
        <dsp:cNvSpPr/>
      </dsp:nvSpPr>
      <dsp:spPr>
        <a:xfrm>
          <a:off x="198797" y="149162"/>
          <a:ext cx="361449" cy="3614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5284C-8711-4BF8-A8ED-74B7F35CEECE}">
      <dsp:nvSpPr>
        <dsp:cNvPr id="0" name=""/>
        <dsp:cNvSpPr/>
      </dsp:nvSpPr>
      <dsp:spPr>
        <a:xfrm>
          <a:off x="759043" y="1296"/>
          <a:ext cx="9146954" cy="657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52" tIns="69552" rIns="69552" bIns="695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</a:rPr>
            <a:t>API: Displays information to the user and handles user input</a:t>
          </a:r>
        </a:p>
      </dsp:txBody>
      <dsp:txXfrm>
        <a:off x="759043" y="1296"/>
        <a:ext cx="9146954" cy="657180"/>
      </dsp:txXfrm>
    </dsp:sp>
    <dsp:sp modelId="{21ED7785-A8A1-4CA2-B747-E26E7EBDD0C2}">
      <dsp:nvSpPr>
        <dsp:cNvPr id="0" name=""/>
        <dsp:cNvSpPr/>
      </dsp:nvSpPr>
      <dsp:spPr>
        <a:xfrm>
          <a:off x="0" y="822772"/>
          <a:ext cx="9905998" cy="65718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C13B3E-F53C-4178-89E6-9C460AD61AD7}">
      <dsp:nvSpPr>
        <dsp:cNvPr id="0" name=""/>
        <dsp:cNvSpPr/>
      </dsp:nvSpPr>
      <dsp:spPr>
        <a:xfrm>
          <a:off x="198797" y="970637"/>
          <a:ext cx="361449" cy="3614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E4F6F-3F11-4B9B-8B1B-599D0904D73C}">
      <dsp:nvSpPr>
        <dsp:cNvPr id="0" name=""/>
        <dsp:cNvSpPr/>
      </dsp:nvSpPr>
      <dsp:spPr>
        <a:xfrm>
          <a:off x="759043" y="822772"/>
          <a:ext cx="9146954" cy="657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52" tIns="69552" rIns="69552" bIns="695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</a:rPr>
            <a:t>Service: Handles business logic; the “brain” of the application</a:t>
          </a:r>
        </a:p>
      </dsp:txBody>
      <dsp:txXfrm>
        <a:off x="759043" y="822772"/>
        <a:ext cx="9146954" cy="657180"/>
      </dsp:txXfrm>
    </dsp:sp>
    <dsp:sp modelId="{B4651D30-5890-4325-AF11-E7E8BE55E3B7}">
      <dsp:nvSpPr>
        <dsp:cNvPr id="0" name=""/>
        <dsp:cNvSpPr/>
      </dsp:nvSpPr>
      <dsp:spPr>
        <a:xfrm>
          <a:off x="0" y="1644248"/>
          <a:ext cx="9905998" cy="65718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E88B03-CC9D-4362-AEC3-6C1B4C8FB6A8}">
      <dsp:nvSpPr>
        <dsp:cNvPr id="0" name=""/>
        <dsp:cNvSpPr/>
      </dsp:nvSpPr>
      <dsp:spPr>
        <a:xfrm>
          <a:off x="198797" y="1792113"/>
          <a:ext cx="361449" cy="3614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DEE690-3CB3-4CFE-B0DD-F9FFA72E689C}">
      <dsp:nvSpPr>
        <dsp:cNvPr id="0" name=""/>
        <dsp:cNvSpPr/>
      </dsp:nvSpPr>
      <dsp:spPr>
        <a:xfrm>
          <a:off x="759043" y="1644248"/>
          <a:ext cx="9146954" cy="657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52" tIns="69552" rIns="69552" bIns="695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</a:rPr>
            <a:t>Domain: Provides abstraction over database tables and records</a:t>
          </a:r>
        </a:p>
      </dsp:txBody>
      <dsp:txXfrm>
        <a:off x="759043" y="1644248"/>
        <a:ext cx="9146954" cy="657180"/>
      </dsp:txXfrm>
    </dsp:sp>
    <dsp:sp modelId="{3437105E-ABA8-4FB7-9EDA-7A3F698D9CF6}">
      <dsp:nvSpPr>
        <dsp:cNvPr id="0" name=""/>
        <dsp:cNvSpPr/>
      </dsp:nvSpPr>
      <dsp:spPr>
        <a:xfrm>
          <a:off x="0" y="2465723"/>
          <a:ext cx="9905998" cy="65718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529E4E-81ED-41F3-B54B-E25D5F347095}">
      <dsp:nvSpPr>
        <dsp:cNvPr id="0" name=""/>
        <dsp:cNvSpPr/>
      </dsp:nvSpPr>
      <dsp:spPr>
        <a:xfrm>
          <a:off x="198797" y="2613589"/>
          <a:ext cx="361449" cy="3614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A16920-75C1-462B-9DF9-AA59BBE2CC85}">
      <dsp:nvSpPr>
        <dsp:cNvPr id="0" name=""/>
        <dsp:cNvSpPr/>
      </dsp:nvSpPr>
      <dsp:spPr>
        <a:xfrm>
          <a:off x="759043" y="2465723"/>
          <a:ext cx="9146954" cy="657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52" tIns="69552" rIns="69552" bIns="695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</a:rPr>
            <a:t>Persistence: Talks to the database and “Translates” between Java and SQL</a:t>
          </a:r>
        </a:p>
      </dsp:txBody>
      <dsp:txXfrm>
        <a:off x="759043" y="2465723"/>
        <a:ext cx="9146954" cy="6571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03675-957F-48CE-B463-7CFC4BB3006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F81-AA28-4608-A000-580021906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278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03675-957F-48CE-B463-7CFC4BB3006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F81-AA28-4608-A000-580021906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296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03675-957F-48CE-B463-7CFC4BB3006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F81-AA28-4608-A000-580021906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655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03675-957F-48CE-B463-7CFC4BB3006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F81-AA28-4608-A000-580021906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24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03675-957F-48CE-B463-7CFC4BB3006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F81-AA28-4608-A000-580021906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880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03675-957F-48CE-B463-7CFC4BB3006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F81-AA28-4608-A000-580021906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278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03675-957F-48CE-B463-7CFC4BB3006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F81-AA28-4608-A000-580021906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351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03675-957F-48CE-B463-7CFC4BB3006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F81-AA28-4608-A000-580021906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995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17D03675-957F-48CE-B463-7CFC4BB3006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05B78F81-AA28-4608-A000-580021906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819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03675-957F-48CE-B463-7CFC4BB3006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F81-AA28-4608-A000-580021906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972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03675-957F-48CE-B463-7CFC4BB3006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F81-AA28-4608-A000-580021906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02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03675-957F-48CE-B463-7CFC4BB3006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F81-AA28-4608-A000-580021906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898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03675-957F-48CE-B463-7CFC4BB3006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F81-AA28-4608-A000-580021906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8932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03675-957F-48CE-B463-7CFC4BB3006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F81-AA28-4608-A000-580021906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601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03675-957F-48CE-B463-7CFC4BB3006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F81-AA28-4608-A000-580021906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8645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03675-957F-48CE-B463-7CFC4BB3006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F81-AA28-4608-A000-580021906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7321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03675-957F-48CE-B463-7CFC4BB3006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78F81-AA28-4608-A000-580021906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495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7D03675-957F-48CE-B463-7CFC4BB3006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05B78F81-AA28-4608-A000-580021906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1801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C55B9B6-3284-4A87-B88E-29DF8ECF86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A4A760-5AFF-1E90-2B6E-ECF1DDBCD7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5098" y="609600"/>
            <a:ext cx="4798142" cy="3642851"/>
          </a:xfrm>
        </p:spPr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65000"/>
                      </a:sysClr>
                    </a:gs>
                  </a:gsLst>
                  <a:lin ang="5580000" scaled="0"/>
                  <a:tileRect/>
                </a:gradFill>
              </a:rPr>
              <a:t>Bank of CLI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398E91-F62F-80BF-5AE4-386F960196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35098" y="4365523"/>
            <a:ext cx="4798140" cy="1793053"/>
          </a:xfrm>
        </p:spPr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400000" scaled="0"/>
                  <a:tileRect/>
                </a:gradFill>
              </a:rPr>
              <a:t>Aarej Syed</a:t>
            </a: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9B5F5ECB-A05F-4FAD-9AAC-BC767A811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8290" y="620720"/>
            <a:ext cx="5457375" cy="5597200"/>
          </a:xfrm>
          <a:prstGeom prst="roundRect">
            <a:avLst>
              <a:gd name="adj" fmla="val 3812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Graphic 6" descr="Bank">
            <a:extLst>
              <a:ext uri="{FF2B5EF4-FFF2-40B4-BE49-F238E27FC236}">
                <a16:creationId xmlns:a16="http://schemas.microsoft.com/office/drawing/2014/main" id="{16CF9AE6-7AAD-7949-754D-9009BEE795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2167" y="1174509"/>
            <a:ext cx="4489621" cy="448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99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99F2C-F97A-A7E2-18CD-2BFDE9BA5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0A106-EFA4-50C3-2AFF-208D3FFBA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Bank of CLI’s </a:t>
            </a:r>
            <a:r>
              <a:rPr lang="en-US" i="1" dirty="0"/>
              <a:t>Core Ledger </a:t>
            </a:r>
            <a:r>
              <a:rPr lang="en-US" dirty="0"/>
              <a:t>is a prototype banking application that runs in the command terminal</a:t>
            </a:r>
          </a:p>
          <a:p>
            <a:r>
              <a:rPr lang="en-US" dirty="0"/>
              <a:t>The Core Ledger provides:</a:t>
            </a:r>
          </a:p>
          <a:p>
            <a:pPr lvl="1"/>
            <a:r>
              <a:rPr lang="en-US" dirty="0"/>
              <a:t>Account registration and login</a:t>
            </a:r>
          </a:p>
          <a:p>
            <a:pPr lvl="1"/>
            <a:r>
              <a:rPr lang="en-US" dirty="0"/>
              <a:t>Account balance checking</a:t>
            </a:r>
          </a:p>
          <a:p>
            <a:pPr lvl="1"/>
            <a:r>
              <a:rPr lang="en-US" dirty="0"/>
              <a:t>Bank transactions: deposit, withdrawal, and transfer</a:t>
            </a:r>
          </a:p>
          <a:p>
            <a:pPr lvl="1"/>
            <a:r>
              <a:rPr lang="en-US" dirty="0"/>
              <a:t>Bank transaction history</a:t>
            </a:r>
          </a:p>
          <a:p>
            <a:pPr lvl="1"/>
            <a:r>
              <a:rPr lang="en-US" dirty="0"/>
              <a:t>System logging</a:t>
            </a:r>
          </a:p>
        </p:txBody>
      </p:sp>
    </p:spTree>
    <p:extLst>
      <p:ext uri="{BB962C8B-B14F-4D97-AF65-F5344CB8AC3E}">
        <p14:creationId xmlns:p14="http://schemas.microsoft.com/office/powerpoint/2010/main" val="1743586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64D0D-F8EE-ACBF-5A34-F40BF5C6A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5E454-70E2-31E9-1668-7D8AC35E1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Java: Programming language</a:t>
            </a:r>
          </a:p>
          <a:p>
            <a:r>
              <a:rPr lang="en-US" dirty="0"/>
              <a:t>Maven: Build tool</a:t>
            </a:r>
          </a:p>
          <a:p>
            <a:r>
              <a:rPr lang="en-US" dirty="0"/>
              <a:t>PostgreSQL: Database language</a:t>
            </a:r>
          </a:p>
          <a:p>
            <a:r>
              <a:rPr lang="en-US" dirty="0"/>
              <a:t>JDBC: Database communication</a:t>
            </a:r>
          </a:p>
          <a:p>
            <a:r>
              <a:rPr lang="en-US" dirty="0"/>
              <a:t>Junit 5 and Mockito: Testing</a:t>
            </a:r>
          </a:p>
          <a:p>
            <a:r>
              <a:rPr lang="en-US" dirty="0"/>
              <a:t>SLF4J/Logback: Logging</a:t>
            </a:r>
          </a:p>
        </p:txBody>
      </p:sp>
    </p:spTree>
    <p:extLst>
      <p:ext uri="{BB962C8B-B14F-4D97-AF65-F5344CB8AC3E}">
        <p14:creationId xmlns:p14="http://schemas.microsoft.com/office/powerpoint/2010/main" val="1754965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A6B8-B29C-BCC1-1096-C84C7B2B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1" y="609600"/>
            <a:ext cx="6573685" cy="1905000"/>
          </a:xfrm>
        </p:spPr>
        <p:txBody>
          <a:bodyPr>
            <a:normAutofit/>
          </a:bodyPr>
          <a:lstStyle/>
          <a:p>
            <a:r>
              <a:rPr lang="en-US" dirty="0"/>
              <a:t>Project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A5294-D014-C177-9E69-7C4D7BF02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666999"/>
            <a:ext cx="6573684" cy="3216276"/>
          </a:xfrm>
        </p:spPr>
        <p:txBody>
          <a:bodyPr anchor="t">
            <a:normAutofit/>
          </a:bodyPr>
          <a:lstStyle/>
          <a:p>
            <a:r>
              <a:rPr lang="en-US" dirty="0"/>
              <a:t>The application’s Java codebase is divided among four subdirectories:</a:t>
            </a:r>
          </a:p>
          <a:p>
            <a:pPr lvl="1"/>
            <a:r>
              <a:rPr lang="en-US" dirty="0" err="1"/>
              <a:t>api</a:t>
            </a:r>
            <a:r>
              <a:rPr lang="en-US" dirty="0"/>
              <a:t>/</a:t>
            </a:r>
          </a:p>
          <a:p>
            <a:pPr lvl="1"/>
            <a:r>
              <a:rPr lang="en-US" dirty="0"/>
              <a:t>service/</a:t>
            </a:r>
          </a:p>
          <a:p>
            <a:pPr lvl="1"/>
            <a:r>
              <a:rPr lang="en-US" dirty="0"/>
              <a:t>domain/</a:t>
            </a:r>
          </a:p>
          <a:p>
            <a:pPr lvl="1"/>
            <a:r>
              <a:rPr lang="en-US" dirty="0"/>
              <a:t>persistence/</a:t>
            </a:r>
          </a:p>
          <a:p>
            <a:r>
              <a:rPr lang="en-US" dirty="0"/>
              <a:t>This establishes a multilayer software architecture where different layers have different responsibilities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D73BE6-9DDB-D4AF-B472-3485AEC76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247" y="645106"/>
            <a:ext cx="3061971" cy="52477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B0BDDA-1E03-2C46-AA89-25FC0D4F8FEC}"/>
              </a:ext>
            </a:extLst>
          </p:cNvPr>
          <p:cNvSpPr/>
          <p:nvPr/>
        </p:nvSpPr>
        <p:spPr>
          <a:xfrm>
            <a:off x="8337755" y="2772697"/>
            <a:ext cx="1848464" cy="1296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815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C8448-4311-9FD7-1706-80E97CA7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Multilayer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B469D3-5B55-CAFA-9B9C-B2B32347B6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615171"/>
              </p:ext>
            </p:extLst>
          </p:nvPr>
        </p:nvGraphicFramePr>
        <p:xfrm>
          <a:off x="1141413" y="2666999"/>
          <a:ext cx="9905998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7199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4D33F-A3D5-FC04-F6E7-6D58D44EE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Object-Oriented Programming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CB74D-C951-E290-01FA-6BAE5A534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how the Bank of CLI Core Ledger applies it</a:t>
            </a:r>
          </a:p>
        </p:txBody>
      </p:sp>
    </p:spTree>
    <p:extLst>
      <p:ext uri="{BB962C8B-B14F-4D97-AF65-F5344CB8AC3E}">
        <p14:creationId xmlns:p14="http://schemas.microsoft.com/office/powerpoint/2010/main" val="1963608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74B50-A3BB-2086-0BB2-6A4BFC732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>
            <a:normAutofit/>
          </a:bodyPr>
          <a:lstStyle/>
          <a:p>
            <a:r>
              <a:rPr lang="en-US" sz="2800"/>
              <a:t>OOP: 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96CDD-D709-1AC5-4A44-72828342D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666999"/>
            <a:ext cx="3643674" cy="3216276"/>
          </a:xfrm>
        </p:spPr>
        <p:txBody>
          <a:bodyPr anchor="t">
            <a:normAutofit/>
          </a:bodyPr>
          <a:lstStyle/>
          <a:p>
            <a:r>
              <a:rPr lang="en-US" sz="1800"/>
              <a:t>Classes hide private members and expose them to the outside world through public getter and setter methods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B917FF-6F05-C6B9-9B73-879114860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017" y="645106"/>
            <a:ext cx="6322587" cy="52477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4994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9CA93-3F24-FC52-4814-60D2D97C4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609599"/>
            <a:ext cx="5435760" cy="200977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OOP: Abstraction</a:t>
            </a:r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6D90DC-537F-6FAD-8D2D-41038EA2F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39" y="1213492"/>
            <a:ext cx="4765597" cy="1453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908979-92CB-1AFB-640D-F6CC5829A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9131" y="2947481"/>
            <a:ext cx="3262812" cy="30106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28FE-5808-0EDF-E188-2BD2D5F18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774425"/>
            <a:ext cx="5435760" cy="328844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The service layer and the DAO (persistence layer) are not just concrete classes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dirty="0"/>
              <a:t>Each has an interface and a concrete implementation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dirty="0"/>
              <a:t>We access these objects through interfaces rather than directly through the concretion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dirty="0"/>
              <a:t>This means we don’t need to concern ourselves with the implementation of these classes when using them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577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C9409-B1B3-9BBB-1DAC-A1AC3266D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OOP: Abstraction (Continued)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DA21A0-DAF1-E63B-0875-A1BA7974F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2162447"/>
            <a:ext cx="3816667" cy="43619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A9BE70-4FCE-66C8-EFF4-588306CB9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766" y="2162447"/>
            <a:ext cx="4890645" cy="435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311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2678D-DA55-0CAE-15E4-D0461418D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>
            <a:normAutofit/>
          </a:bodyPr>
          <a:lstStyle/>
          <a:p>
            <a:r>
              <a:rPr lang="en-US" sz="2800"/>
              <a:t>OOP: Polymorphism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C56D0-030D-4114-A116-F91DCB6B5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666999"/>
            <a:ext cx="3643674" cy="3216276"/>
          </a:xfrm>
        </p:spPr>
        <p:txBody>
          <a:bodyPr anchor="t">
            <a:normAutofit/>
          </a:bodyPr>
          <a:lstStyle/>
          <a:p>
            <a:r>
              <a:rPr lang="en-US" sz="1800"/>
              <a:t>The concretions of the service and persistence interfaces override the interface methods and provide their own functionality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CD60EC-246F-51C6-744C-9B185B928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994" y="1669508"/>
            <a:ext cx="6916633" cy="31989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33795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D627D-811F-1628-8593-B94EA7BF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CCB64-DAE4-5544-4D63-85807DB920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Core Ledger stores, manages, and represents data</a:t>
            </a:r>
          </a:p>
        </p:txBody>
      </p:sp>
    </p:spTree>
    <p:extLst>
      <p:ext uri="{BB962C8B-B14F-4D97-AF65-F5344CB8AC3E}">
        <p14:creationId xmlns:p14="http://schemas.microsoft.com/office/powerpoint/2010/main" val="1317980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EF8982E-02F0-4D24-85CB-98DEBCC32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106C99-63E3-1405-72EB-97E0C5DDA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>
            <a:normAutofit/>
          </a:bodyPr>
          <a:lstStyle/>
          <a:p>
            <a:pPr algn="ctr"/>
            <a:r>
              <a:rPr lang="en-US" sz="280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65000"/>
                      </a:sysClr>
                    </a:gs>
                  </a:gsLst>
                  <a:lin ang="5580000" scaled="0"/>
                  <a:tileRect/>
                </a:gradFill>
              </a:rPr>
              <a:t>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213CE-32D5-987E-DF9B-0C2AC9B4F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666999"/>
            <a:ext cx="3643674" cy="321627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buClr>
                <a:schemeClr val="bg1"/>
              </a:buClr>
            </a:pPr>
            <a:r>
              <a:rPr lang="en-US" sz="1500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Our database contains ACCOUNT and BANK_TRANSACTION tables</a:t>
            </a:r>
          </a:p>
          <a:p>
            <a:pPr>
              <a:lnSpc>
                <a:spcPct val="90000"/>
              </a:lnSpc>
              <a:buClr>
                <a:schemeClr val="bg1"/>
              </a:buClr>
            </a:pPr>
            <a:r>
              <a:rPr lang="en-US" sz="1500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It also defines the custom </a:t>
            </a:r>
            <a:r>
              <a:rPr lang="en-US" sz="1500" dirty="0" err="1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enum</a:t>
            </a:r>
            <a:r>
              <a:rPr lang="en-US" sz="1500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 type, BANK_TRANSACTION_TYPE_ENUM, with values ‘deposit’, ‘withdrawal’, ‘</a:t>
            </a:r>
            <a:r>
              <a:rPr lang="en-US" sz="1500" dirty="0" err="1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transfer_in</a:t>
            </a:r>
            <a:r>
              <a:rPr lang="en-US" sz="1500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’, and ‘</a:t>
            </a:r>
            <a:r>
              <a:rPr lang="en-US" sz="1500" dirty="0" err="1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transfer_out</a:t>
            </a:r>
            <a:r>
              <a:rPr lang="en-US" sz="1500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’</a:t>
            </a:r>
          </a:p>
          <a:p>
            <a:pPr>
              <a:lnSpc>
                <a:spcPct val="90000"/>
              </a:lnSpc>
              <a:buClr>
                <a:schemeClr val="bg1"/>
              </a:buClr>
            </a:pPr>
            <a:r>
              <a:rPr lang="en-US" sz="1500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ACCOUNT and BANK_TRANSACTION have a 1:N relationship</a:t>
            </a:r>
          </a:p>
          <a:p>
            <a:pPr>
              <a:lnSpc>
                <a:spcPct val="90000"/>
              </a:lnSpc>
              <a:buClr>
                <a:schemeClr val="bg1"/>
              </a:buClr>
            </a:pPr>
            <a:r>
              <a:rPr lang="en-US" sz="1500" dirty="0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5580000" scaled="0"/>
                  <a:tileRect/>
                </a:gradFill>
              </a:rPr>
              <a:t>ACCOUNTs do not need to have BANK_TRANSACTIONs, but BANK_TRANSACTIONs must be linked to accounts</a:t>
            </a:r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2CB72970-2D5B-4516-9F76-B1220A77B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0994" y="620720"/>
            <a:ext cx="6929447" cy="5272133"/>
          </a:xfrm>
          <a:prstGeom prst="roundRect">
            <a:avLst>
              <a:gd name="adj" fmla="val 3812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38C63E-3BED-38C8-D349-7A90EE6CA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626" y="2196052"/>
            <a:ext cx="5934182" cy="212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944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DDBE5-DD76-9534-BEA2-BF7492CB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>
            <a:normAutofit/>
          </a:bodyPr>
          <a:lstStyle/>
          <a:p>
            <a:r>
              <a:rPr lang="en-US" sz="2800" dirty="0"/>
              <a:t>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B7834-909E-E58D-55C9-1E9C29456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666999"/>
            <a:ext cx="3643674" cy="3216276"/>
          </a:xfrm>
        </p:spPr>
        <p:txBody>
          <a:bodyPr anchor="t">
            <a:normAutofit fontScale="92500"/>
          </a:bodyPr>
          <a:lstStyle/>
          <a:p>
            <a:r>
              <a:rPr lang="en-US" sz="1800" dirty="0"/>
              <a:t>Checks</a:t>
            </a:r>
          </a:p>
          <a:p>
            <a:pPr lvl="1"/>
            <a:r>
              <a:rPr lang="en-US" sz="1600" dirty="0"/>
              <a:t>PIN must be a 4-digit string</a:t>
            </a:r>
          </a:p>
          <a:p>
            <a:pPr lvl="1"/>
            <a:r>
              <a:rPr lang="en-US" sz="1600" dirty="0"/>
              <a:t>Balance cannot be negative</a:t>
            </a:r>
          </a:p>
          <a:p>
            <a:pPr lvl="1"/>
            <a:r>
              <a:rPr lang="en-US" sz="1600" dirty="0"/>
              <a:t>Amount of money involved in a transaction must be positive</a:t>
            </a:r>
          </a:p>
          <a:p>
            <a:r>
              <a:rPr lang="en-US" sz="1800" dirty="0"/>
              <a:t>To preserve transaction history, we prevent account deletion if it has associated transactions</a:t>
            </a:r>
          </a:p>
          <a:p>
            <a:r>
              <a:rPr lang="en-US" sz="1800" dirty="0"/>
              <a:t>Indexing optimizes BANK_TRANSACTION lookups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E266F5-CFB0-D3E4-ABFF-E87975175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994" y="796283"/>
            <a:ext cx="6916633" cy="49453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472B66D-13C9-5955-E8E1-A3AC836C4233}"/>
              </a:ext>
            </a:extLst>
          </p:cNvPr>
          <p:cNvSpPr/>
          <p:nvPr/>
        </p:nvSpPr>
        <p:spPr>
          <a:xfrm>
            <a:off x="4853940" y="1249680"/>
            <a:ext cx="2994660" cy="708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4A4EAD-E626-AA3D-3A08-6D8ECE7DC45C}"/>
              </a:ext>
            </a:extLst>
          </p:cNvPr>
          <p:cNvSpPr/>
          <p:nvPr/>
        </p:nvSpPr>
        <p:spPr>
          <a:xfrm>
            <a:off x="4853940" y="3985260"/>
            <a:ext cx="3291840" cy="6416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884C74-F728-EAA2-C871-C6A73032C0CE}"/>
              </a:ext>
            </a:extLst>
          </p:cNvPr>
          <p:cNvSpPr/>
          <p:nvPr/>
        </p:nvSpPr>
        <p:spPr>
          <a:xfrm>
            <a:off x="4630994" y="5257800"/>
            <a:ext cx="4909246" cy="4838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3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CCB00-1D7E-0054-2AE8-CB5A83A8D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Defensive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956BB-968F-A65C-EB34-A60DD3B5A0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Core Ledger anticipates and protects against unexpected scenarios</a:t>
            </a:r>
          </a:p>
        </p:txBody>
      </p:sp>
    </p:spTree>
    <p:extLst>
      <p:ext uri="{BB962C8B-B14F-4D97-AF65-F5344CB8AC3E}">
        <p14:creationId xmlns:p14="http://schemas.microsoft.com/office/powerpoint/2010/main" val="1533306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F06AF-72AE-4BE4-F86D-3F46420F5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Defensive Design: Input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DD417-AFB7-3384-8BC4-9B7FBC762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3979227" cy="3124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Core Ledger performs quick validations of user input:</a:t>
            </a:r>
          </a:p>
          <a:p>
            <a:r>
              <a:rPr lang="en-US" dirty="0"/>
              <a:t>Integer commands</a:t>
            </a:r>
          </a:p>
          <a:p>
            <a:r>
              <a:rPr lang="en-US" dirty="0"/>
              <a:t>Numeric input</a:t>
            </a:r>
          </a:p>
          <a:p>
            <a:r>
              <a:rPr lang="en-US" dirty="0"/>
              <a:t>`long`-type IDs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DEA351-13D1-8C7C-B057-4AEA57574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3000" y="3750142"/>
            <a:ext cx="5039000" cy="31078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7DFB52-0E29-1523-2A24-FD0998C61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9039" y="1771194"/>
            <a:ext cx="2972961" cy="1978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54E8BC-03F0-60B4-BC09-E33BBCE045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738" y="4100628"/>
            <a:ext cx="3054262" cy="275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417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EA486-F879-3208-721C-056B4C0BD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Defensive Design: Internal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08825-56BB-BA89-8033-68BAB7351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Core Ledger also enforces internal rules after basic input validation, such as:</a:t>
            </a:r>
          </a:p>
          <a:p>
            <a:r>
              <a:rPr lang="en-US" dirty="0"/>
              <a:t>PIN validation</a:t>
            </a:r>
          </a:p>
          <a:p>
            <a:r>
              <a:rPr lang="en-US" dirty="0"/>
              <a:t>Verification of user log-in status</a:t>
            </a:r>
          </a:p>
          <a:p>
            <a:r>
              <a:rPr lang="en-US" dirty="0"/>
              <a:t>Nonexistent-account handling</a:t>
            </a:r>
          </a:p>
          <a:p>
            <a:r>
              <a:rPr lang="en-US" dirty="0"/>
              <a:t>Same-account transfer prevention</a:t>
            </a:r>
          </a:p>
          <a:p>
            <a:r>
              <a:rPr lang="en-US" dirty="0"/>
              <a:t>Overdraft prevention</a:t>
            </a:r>
          </a:p>
        </p:txBody>
      </p:sp>
    </p:spTree>
    <p:extLst>
      <p:ext uri="{BB962C8B-B14F-4D97-AF65-F5344CB8AC3E}">
        <p14:creationId xmlns:p14="http://schemas.microsoft.com/office/powerpoint/2010/main" val="3179489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76A42-CE2F-914E-F6C7-25CC39340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Defensive Design: Internal Rules (Continued)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44BCFC-50D9-C11C-403A-06E289941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5595"/>
            <a:ext cx="12192000" cy="298331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4A4554-8E5D-D2ED-3634-C2B2324D70AB}"/>
              </a:ext>
            </a:extLst>
          </p:cNvPr>
          <p:cNvSpPr/>
          <p:nvPr/>
        </p:nvSpPr>
        <p:spPr>
          <a:xfrm>
            <a:off x="314758" y="3958511"/>
            <a:ext cx="11877241" cy="13339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007700-07C1-34D3-E704-FE3FD471A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3409" y="2285966"/>
            <a:ext cx="6485182" cy="76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668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31DFB-C704-A023-0BE5-79B06D603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Communicating with the Database</a:t>
            </a:r>
          </a:p>
        </p:txBody>
      </p:sp>
    </p:spTree>
    <p:extLst>
      <p:ext uri="{BB962C8B-B14F-4D97-AF65-F5344CB8AC3E}">
        <p14:creationId xmlns:p14="http://schemas.microsoft.com/office/powerpoint/2010/main" val="9643262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2B28-D52D-E721-2D60-FA7B8B6DC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>
            <a:normAutofit/>
          </a:bodyPr>
          <a:lstStyle/>
          <a:p>
            <a:r>
              <a:rPr lang="en-US" sz="2800"/>
              <a:t>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CBA35-0474-F874-5DA7-4BE0107BA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666999"/>
            <a:ext cx="3643674" cy="3216276"/>
          </a:xfrm>
        </p:spPr>
        <p:txBody>
          <a:bodyPr anchor="t">
            <a:normAutofit/>
          </a:bodyPr>
          <a:lstStyle/>
          <a:p>
            <a:r>
              <a:rPr lang="en-US" sz="1800" dirty="0"/>
              <a:t>Core Ledger uses prepared statements when communicating with the database</a:t>
            </a:r>
          </a:p>
          <a:p>
            <a:r>
              <a:rPr lang="en-US" sz="1800" dirty="0"/>
              <a:t>By separating the data from the query itself, Core Ledger prevents SQL injections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9CB328-DDD0-6340-CC7A-D45CF03CC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682" y="645106"/>
            <a:ext cx="6815256" cy="52477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2BCD44A-9270-095D-F3E1-2C0581C567D5}"/>
              </a:ext>
            </a:extLst>
          </p:cNvPr>
          <p:cNvSpPr/>
          <p:nvPr/>
        </p:nvSpPr>
        <p:spPr>
          <a:xfrm>
            <a:off x="5254906" y="1483443"/>
            <a:ext cx="6242032" cy="7386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9425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C1EB5-5494-546B-F74F-09E73ADCA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>
            <a:normAutofit/>
          </a:bodyPr>
          <a:lstStyle/>
          <a:p>
            <a:r>
              <a:rPr lang="en-US" sz="2800"/>
              <a:t>Database Transactions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67779-7456-29A0-D441-B4D831876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666999"/>
            <a:ext cx="3643674" cy="3216276"/>
          </a:xfrm>
        </p:spPr>
        <p:txBody>
          <a:bodyPr anchor="t">
            <a:normAutofit/>
          </a:bodyPr>
          <a:lstStyle/>
          <a:p>
            <a:r>
              <a:rPr lang="en-US" sz="1700"/>
              <a:t>Multi-step operations (e.g. bank transactions) are bundled into one database transaction</a:t>
            </a:r>
          </a:p>
          <a:p>
            <a:r>
              <a:rPr lang="en-US" sz="1700"/>
              <a:t>This ensures operation is atomic</a:t>
            </a:r>
          </a:p>
          <a:p>
            <a:r>
              <a:rPr lang="en-US" sz="1700"/>
              <a:t>Persistence layer commits a transaction if all steps were successful</a:t>
            </a:r>
          </a:p>
          <a:p>
            <a:r>
              <a:rPr lang="en-US" sz="1700"/>
              <a:t>If even one step fails, persistence layer rolls back commit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34BA42-7DBC-B7BB-5B8F-179B8C8F7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994" y="657951"/>
            <a:ext cx="6916633" cy="52220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7060518-3566-FBB6-C21F-57668F63310B}"/>
              </a:ext>
            </a:extLst>
          </p:cNvPr>
          <p:cNvSpPr/>
          <p:nvPr/>
        </p:nvSpPr>
        <p:spPr>
          <a:xfrm>
            <a:off x="4630994" y="670077"/>
            <a:ext cx="4522838" cy="4016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700FC2-DDAC-2860-AFDB-29D40CAB6E89}"/>
              </a:ext>
            </a:extLst>
          </p:cNvPr>
          <p:cNvSpPr/>
          <p:nvPr/>
        </p:nvSpPr>
        <p:spPr>
          <a:xfrm>
            <a:off x="4960374" y="2595716"/>
            <a:ext cx="4960373" cy="4719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ECBE23-6E4C-4137-F9D2-C708EBF58B23}"/>
              </a:ext>
            </a:extLst>
          </p:cNvPr>
          <p:cNvSpPr/>
          <p:nvPr/>
        </p:nvSpPr>
        <p:spPr>
          <a:xfrm>
            <a:off x="5255343" y="4227871"/>
            <a:ext cx="1873044" cy="2459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053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30730A-E422-9AE8-0DF3-D2B58D15D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E7A8D-DB89-1132-1571-961D65E7C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>
            <a:normAutofit/>
          </a:bodyPr>
          <a:lstStyle/>
          <a:p>
            <a:r>
              <a:rPr lang="en-US" sz="2800"/>
              <a:t>Logging and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314D9-7D4A-F90E-60C9-35A91E850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666999"/>
            <a:ext cx="3643674" cy="3216276"/>
          </a:xfrm>
        </p:spPr>
        <p:txBody>
          <a:bodyPr anchor="t">
            <a:normAutofit/>
          </a:bodyPr>
          <a:lstStyle/>
          <a:p>
            <a:r>
              <a:rPr lang="en-US" sz="1800"/>
              <a:t>Core Ledger records application actions in a log file</a:t>
            </a:r>
          </a:p>
          <a:p>
            <a:r>
              <a:rPr lang="en-US" sz="1800"/>
              <a:t>When errors arise, the application displays a user-friendly description of the error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1615FC-56F2-7B40-1696-39B501FF8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994" y="2041277"/>
            <a:ext cx="6916633" cy="24554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5649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01F58-06CD-8D0A-4CFA-661F7AA92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7696D-FE5D-64E7-D1A8-CE7A42AB1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Core Ledger uses Junit 5 and Mockito for positive and negative tests, verifying both that a method works with valid input and that it properly handles invalid input</a:t>
            </a:r>
          </a:p>
          <a:p>
            <a:pPr lvl="1"/>
            <a:r>
              <a:rPr lang="en-US" dirty="0"/>
              <a:t>Junit 5 enables unit tests and Mockito enables the mocking of objects</a:t>
            </a:r>
          </a:p>
          <a:p>
            <a:pPr lvl="1"/>
            <a:r>
              <a:rPr lang="en-US" dirty="0"/>
              <a:t>This means we can use a mock DAO in unit tests without needing to test the database connection</a:t>
            </a:r>
          </a:p>
        </p:txBody>
      </p:sp>
    </p:spTree>
    <p:extLst>
      <p:ext uri="{BB962C8B-B14F-4D97-AF65-F5344CB8AC3E}">
        <p14:creationId xmlns:p14="http://schemas.microsoft.com/office/powerpoint/2010/main" val="28925342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70A1D-EA8F-A825-02AB-F32FFDB53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D11BF-3493-262B-216D-AA773C5DD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(Continued)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E16CCE-A0B4-DEA6-21F2-83CC5EB2B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171" y="1508555"/>
            <a:ext cx="4458086" cy="11430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42550B-CDCC-BF9A-EEA9-7842C71D2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5" y="2788709"/>
            <a:ext cx="5042535" cy="40692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1DD1CA-7DF2-D3FF-0746-F8147FEB6A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4429" y="2788709"/>
            <a:ext cx="6947571" cy="406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307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6BCB9-5EC3-FC46-3F78-91C0EE8E5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Demonstration and Q&amp;A</a:t>
            </a:r>
          </a:p>
        </p:txBody>
      </p:sp>
    </p:spTree>
    <p:extLst>
      <p:ext uri="{BB962C8B-B14F-4D97-AF65-F5344CB8AC3E}">
        <p14:creationId xmlns:p14="http://schemas.microsoft.com/office/powerpoint/2010/main" val="21646016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1074</TotalTime>
  <Words>650</Words>
  <Application>Microsoft Office PowerPoint</Application>
  <PresentationFormat>Widescreen</PresentationFormat>
  <Paragraphs>88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Century Gothic</vt:lpstr>
      <vt:lpstr>Mesh</vt:lpstr>
      <vt:lpstr>Bank of CLI</vt:lpstr>
      <vt:lpstr>Project Overview</vt:lpstr>
      <vt:lpstr>Technology Stack</vt:lpstr>
      <vt:lpstr>Project Structure</vt:lpstr>
      <vt:lpstr>Multilayer Architecture</vt:lpstr>
      <vt:lpstr>Object-Oriented Programming</vt:lpstr>
      <vt:lpstr>OOP: Encapsulation</vt:lpstr>
      <vt:lpstr>OOP: Abstraction</vt:lpstr>
      <vt:lpstr>OOP: Abstraction (Continued)</vt:lpstr>
      <vt:lpstr>OOP: Polymorphism</vt:lpstr>
      <vt:lpstr>Database Design</vt:lpstr>
      <vt:lpstr>Database Design</vt:lpstr>
      <vt:lpstr>Database Design</vt:lpstr>
      <vt:lpstr>Defensive Design</vt:lpstr>
      <vt:lpstr>Defensive Design: Input Validation</vt:lpstr>
      <vt:lpstr>Defensive Design: Internal Rules</vt:lpstr>
      <vt:lpstr>Defensive Design: Internal Rules (Continued)</vt:lpstr>
      <vt:lpstr>Communicating with the Database</vt:lpstr>
      <vt:lpstr>SecuritY</vt:lpstr>
      <vt:lpstr>Database Transactions</vt:lpstr>
      <vt:lpstr>Logging and Errors</vt:lpstr>
      <vt:lpstr>Testing</vt:lpstr>
      <vt:lpstr>Testing (Continued)</vt:lpstr>
      <vt:lpstr>Live Demonstration and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Syed, Aarej Ali</dc:creator>
  <cp:lastModifiedBy>Syed, Aarej Ali</cp:lastModifiedBy>
  <cp:revision>4</cp:revision>
  <dcterms:created xsi:type="dcterms:W3CDTF">2026-09-28T02:51:45Z</dcterms:created>
  <dcterms:modified xsi:type="dcterms:W3CDTF">2026-09-28T21:00:30Z</dcterms:modified>
</cp:coreProperties>
</file>